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4"/>
    <p:restoredTop sz="94637"/>
  </p:normalViewPr>
  <p:slideViewPr>
    <p:cSldViewPr snapToGrid="0">
      <p:cViewPr>
        <p:scale>
          <a:sx n="129" d="100"/>
          <a:sy n="129" d="100"/>
        </p:scale>
        <p:origin x="-432" y="-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E81D4-0D2A-F143-9149-B2B2C3A1BD27}" type="datetimeFigureOut">
              <a:rPr lang="en-US" smtClean="0"/>
              <a:t>3/12/25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D1F50-4A7D-AA45-81EC-FAA1E5013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1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D1F50-4A7D-AA45-81EC-FAA1E50131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5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C2D8-8602-D286-41B5-7297B9E11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D238F-A1FA-AE7C-1931-385420D23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6E-146A-7E10-1372-2B9B3D8F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5340-EFC5-A84E-BBC4-F50C54FF5440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5B4C8-228A-EE17-6DFF-90433131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DA8D-9495-F992-F66D-6A5C67B4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0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59CB-B232-A884-21D1-8877B8BF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0439B-E31B-7429-6D27-F27500798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EC2AD-B246-6ECE-C8E2-71F579FC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A7457-288E-7745-8632-D8577366ADED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B2C29-BB5A-4C47-CC97-3653970F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A8FC3-A56A-098D-491F-9076C318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6747-D6D8-46CB-FC35-1DD3E62C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164F0-AF36-87A2-A8B9-DD8B6D32E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54DC0-B52C-D484-F391-D5325FFF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9C07-A4BE-044F-9422-485949906A8C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38562-D2FA-E5AF-910E-FF5262AB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5B6D-FA44-1096-6B2E-DA0067A6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0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6B05-0605-D3A9-4BD4-6F9F7793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0A401-B976-2D0A-B353-8F312DB49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D9812-04CB-DCF3-2758-1349121C3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E0263-AEF7-6493-A69C-21444D43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DF10-47D4-D94D-BE1B-AD7324850F55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FE724-8D68-2FF5-2594-6220B225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92D69-EBDF-01D9-C245-C4BB3CE3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3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4F81-A058-6AAA-812C-3F40E96D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4C73F-3496-FB18-0B36-4C6B8E717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BD17E-E584-D40F-14CA-1F8D695A7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29378-1BF1-0AE0-D335-0CCB4DEB0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FC619-B77C-BEF4-9086-184705236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2B6B9-3073-ABE3-6850-4BA2B28E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25EC-57DF-B941-BE2E-2F57519F9EDB}" type="datetime1">
              <a:rPr lang="en-US" smtClean="0"/>
              <a:t>3/12/25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F411A-F828-88B9-F5E3-8EA96746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78AC2-D9F4-56ED-64E7-B921E105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9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BEFF-1FC0-A9FB-CA69-D8BF6648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86BF1-1183-2A4B-2AAC-292BC45B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8E4-6A5B-7548-B901-B1349D256552}" type="datetime1">
              <a:rPr lang="en-US" smtClean="0"/>
              <a:t>3/12/25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7770-691C-BE62-C642-5960B72A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F03FC-B89F-7DF3-276D-99A6E9E8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FECC7-244D-1C06-6C67-CE30C17A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434F-A31B-5648-9FBB-CA603E489999}" type="datetime1">
              <a:rPr lang="en-US" smtClean="0"/>
              <a:t>3/12/25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28F5B-63E3-1B6B-9A1F-2A3FCB13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1FA36-3360-8A9D-C584-6CE9AE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2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CD75-D176-235A-E00E-F747FA975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7CD10-E186-DFB3-3BF4-921FF50E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551EC-D126-7493-70D4-39052AB90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2F72B-7E90-FB2B-001F-3406D672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2DD0A-DDDC-334A-862E-6A5D5DD287C8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7CBAA-2319-D86A-D55C-8DB25AB5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54346-976A-FAE9-C45A-D16371A8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2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6A98-A048-9B1C-5810-9E19BF03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45263-FAAE-2180-670A-ED25F0FE7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C3A40-CA5E-A148-47F7-5D71B7FBB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3234D-4EA9-AF71-E353-54D8E2C9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36495-12C9-0844-90D9-503A939EEC58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4DC8B-DB96-CCDD-DB2A-7649D5ED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CEFF0-6D3A-4BAC-C0BD-EE51F3D0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5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5E2F-2F7F-AC7C-4035-F225ED10B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69EC7-9D95-517F-A082-24BD93921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4C51C-E9B4-A31A-68A1-B15E56B0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0F6-B360-CE43-B3E0-4A31F57E12FE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32D9-8EFC-4ED1-24DB-721B318F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7D9F-55D1-D4CF-96BE-1D6964AB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1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DCEFD-7BEB-4439-41AC-0A833BCF7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81F6D-DA37-552B-7495-214492375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8642-1D64-2AB5-AC58-F0B90E01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64B4-368D-E843-9128-BE8B6DD65CA6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563BA-49E2-0613-DB7A-2F5DC914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33085-5399-68CD-193D-B78A72FC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59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65EAE-D59F-7FFC-8254-97E6EA7F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99CF5-AF91-1C8E-A5F1-A2AA47F2C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29C6-B47F-652F-EF5F-8AB4FE46E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617C2-1940-884B-9347-9767CBAA2E9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099E4-DE71-9B7E-F2E5-1F055B92C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2020D-B3CC-6243-16D0-4FD0C9F82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AFE90-0CD5-A440-9D8E-0E4C8D78C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4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cyclingstats.com/index.ph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https://www.strava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BCC8E2-50A6-C0A6-E8CB-0BAE1FE0FA26}"/>
              </a:ext>
            </a:extLst>
          </p:cNvPr>
          <p:cNvSpPr/>
          <p:nvPr/>
        </p:nvSpPr>
        <p:spPr>
          <a:xfrm>
            <a:off x="666582" y="1985508"/>
            <a:ext cx="1488405" cy="277838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u="sng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ProCyclingStats</a:t>
            </a:r>
            <a:endParaRPr lang="en-US" sz="14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E40F3-BDFE-681D-2AF8-C95BA1920FFE}"/>
              </a:ext>
            </a:extLst>
          </p:cNvPr>
          <p:cNvSpPr/>
          <p:nvPr/>
        </p:nvSpPr>
        <p:spPr>
          <a:xfrm>
            <a:off x="3217322" y="1576022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tdf_results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3C1A9-DA8E-10AD-324D-307D994332EA}"/>
              </a:ext>
            </a:extLst>
          </p:cNvPr>
          <p:cNvSpPr/>
          <p:nvPr/>
        </p:nvSpPr>
        <p:spPr>
          <a:xfrm>
            <a:off x="3217322" y="1987502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giro_results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AB65C-8071-5F14-E332-8D02501F84BF}"/>
              </a:ext>
            </a:extLst>
          </p:cNvPr>
          <p:cNvSpPr/>
          <p:nvPr/>
        </p:nvSpPr>
        <p:spPr>
          <a:xfrm>
            <a:off x="3217322" y="2416127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vuelta_results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310F96-F11B-6143-27C6-76B67113166B}"/>
              </a:ext>
            </a:extLst>
          </p:cNvPr>
          <p:cNvCxnSpPr>
            <a:cxnSpLocks/>
          </p:cNvCxnSpPr>
          <p:nvPr/>
        </p:nvCxnSpPr>
        <p:spPr>
          <a:xfrm>
            <a:off x="2154988" y="2128619"/>
            <a:ext cx="826135" cy="1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E14167-D25A-43BE-0B49-05E93A3A471E}"/>
              </a:ext>
            </a:extLst>
          </p:cNvPr>
          <p:cNvSpPr/>
          <p:nvPr/>
        </p:nvSpPr>
        <p:spPr>
          <a:xfrm>
            <a:off x="1206699" y="4369075"/>
            <a:ext cx="1391920" cy="280035"/>
          </a:xfrm>
          <a:prstGeom prst="rect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Strava</a:t>
            </a:r>
            <a:endParaRPr lang="en-US" sz="14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00F0F8-0F8C-3EE4-57AA-7D4688709529}"/>
              </a:ext>
            </a:extLst>
          </p:cNvPr>
          <p:cNvCxnSpPr>
            <a:cxnSpLocks/>
            <a:stCxn id="16" idx="3"/>
            <a:endCxn id="33" idx="1"/>
          </p:cNvCxnSpPr>
          <p:nvPr/>
        </p:nvCxnSpPr>
        <p:spPr>
          <a:xfrm flipV="1">
            <a:off x="2598619" y="4503438"/>
            <a:ext cx="1691114" cy="5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BE9AA08E-5AD8-9408-5DBC-D56270BD1B6E}"/>
              </a:ext>
            </a:extLst>
          </p:cNvPr>
          <p:cNvSpPr/>
          <p:nvPr/>
        </p:nvSpPr>
        <p:spPr>
          <a:xfrm>
            <a:off x="4609242" y="1436543"/>
            <a:ext cx="226141" cy="138634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6C8F6A7-5DA9-63DA-E20E-95EC28E8EF1D}"/>
              </a:ext>
            </a:extLst>
          </p:cNvPr>
          <p:cNvSpPr/>
          <p:nvPr/>
        </p:nvSpPr>
        <p:spPr>
          <a:xfrm flipH="1">
            <a:off x="3000787" y="1434345"/>
            <a:ext cx="226141" cy="138634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345301D-FFA9-78E8-E613-BA2BBAD55D9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835383" y="2129716"/>
            <a:ext cx="150310" cy="2233703"/>
          </a:xfrm>
          <a:prstGeom prst="bentConnector4">
            <a:avLst>
              <a:gd name="adj1" fmla="val 100732"/>
              <a:gd name="adj2" fmla="val 6445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58A9051-B2A8-5525-1B21-0BBA9FA1FF50}"/>
              </a:ext>
            </a:extLst>
          </p:cNvPr>
          <p:cNvSpPr txBox="1"/>
          <p:nvPr/>
        </p:nvSpPr>
        <p:spPr>
          <a:xfrm>
            <a:off x="5146608" y="960585"/>
            <a:ext cx="1957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Work by Deniz!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94BE68-CBF6-9D7C-A6B4-99B2526905F1}"/>
              </a:ext>
            </a:extLst>
          </p:cNvPr>
          <p:cNvSpPr/>
          <p:nvPr/>
        </p:nvSpPr>
        <p:spPr>
          <a:xfrm>
            <a:off x="4289733" y="4363420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strava_names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5A5CB740-4CFA-2EA6-78DF-6AA9DAE6E341}"/>
              </a:ext>
            </a:extLst>
          </p:cNvPr>
          <p:cNvCxnSpPr>
            <a:cxnSpLocks/>
          </p:cNvCxnSpPr>
          <p:nvPr/>
        </p:nvCxnSpPr>
        <p:spPr>
          <a:xfrm>
            <a:off x="4907607" y="2127519"/>
            <a:ext cx="2728800" cy="1841695"/>
          </a:xfrm>
          <a:prstGeom prst="bentConnector3">
            <a:avLst>
              <a:gd name="adj1" fmla="val 10004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57177CD-0B82-81C9-D027-260AB537A8F7}"/>
              </a:ext>
            </a:extLst>
          </p:cNvPr>
          <p:cNvSpPr/>
          <p:nvPr/>
        </p:nvSpPr>
        <p:spPr>
          <a:xfrm>
            <a:off x="6914687" y="4092772"/>
            <a:ext cx="15150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segments_data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41928B-B9A5-5287-06B9-38B39062D9CF}"/>
              </a:ext>
            </a:extLst>
          </p:cNvPr>
          <p:cNvSpPr txBox="1"/>
          <p:nvPr/>
        </p:nvSpPr>
        <p:spPr>
          <a:xfrm>
            <a:off x="7629543" y="2284752"/>
            <a:ext cx="40173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For a given athlete, use the </a:t>
            </a:r>
            <a:r>
              <a:rPr lang="en-US" sz="12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date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of a tour day from the results tables to find</a:t>
            </a:r>
          </a:p>
          <a:p>
            <a:pPr marL="228600" indent="-228600">
              <a:buAutoNum type="arabicParenBoth"/>
            </a:pP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The segment information (distance, segment names) </a:t>
            </a:r>
          </a:p>
          <a:p>
            <a:pPr marL="228600" indent="-228600">
              <a:buAutoNum type="arabicParenBoth"/>
            </a:pP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The corresponding(?) stats of the athlete (distance, time, elevation)</a:t>
            </a:r>
          </a:p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Both of these tables are indexed by a unique </a:t>
            </a:r>
            <a:r>
              <a:rPr lang="en-US" sz="12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activity_id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and </a:t>
            </a:r>
            <a:r>
              <a:rPr lang="en-US" sz="12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athlete_id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pair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52B34A-0F10-1463-6C4B-8727E20170DF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5681653" y="4503437"/>
            <a:ext cx="10426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5641A4D-CEFE-18B1-0D25-7F44A2696559}"/>
              </a:ext>
            </a:extLst>
          </p:cNvPr>
          <p:cNvSpPr/>
          <p:nvPr/>
        </p:nvSpPr>
        <p:spPr>
          <a:xfrm>
            <a:off x="6914686" y="4593928"/>
            <a:ext cx="1515013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stats_data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2ADB1BDB-21CC-9F46-F192-8DC9B0741FA3}"/>
              </a:ext>
            </a:extLst>
          </p:cNvPr>
          <p:cNvSpPr/>
          <p:nvPr/>
        </p:nvSpPr>
        <p:spPr>
          <a:xfrm flipH="1">
            <a:off x="6701440" y="4043681"/>
            <a:ext cx="214596" cy="91951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B6152AFC-7621-5E53-1AFB-1BDEADB418D6}"/>
              </a:ext>
            </a:extLst>
          </p:cNvPr>
          <p:cNvSpPr/>
          <p:nvPr/>
        </p:nvSpPr>
        <p:spPr>
          <a:xfrm>
            <a:off x="8429699" y="4043681"/>
            <a:ext cx="214596" cy="91951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D50E261-E3E9-8BBA-09BC-71792AF148EC}"/>
              </a:ext>
            </a:extLst>
          </p:cNvPr>
          <p:cNvSpPr txBox="1"/>
          <p:nvPr/>
        </p:nvSpPr>
        <p:spPr>
          <a:xfrm>
            <a:off x="3530077" y="572940"/>
            <a:ext cx="5190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Grand-Tours-Analysis Data Scraping Process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7DBB47-194A-4E3F-B843-809962A99086}"/>
              </a:ext>
            </a:extLst>
          </p:cNvPr>
          <p:cNvSpPr/>
          <p:nvPr/>
        </p:nvSpPr>
        <p:spPr>
          <a:xfrm>
            <a:off x="6940447" y="5367135"/>
            <a:ext cx="1391920" cy="280035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strava_table</a:t>
            </a:r>
            <a:endParaRPr lang="en-US" sz="1400" kern="100" dirty="0"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EA68DF-6BCD-B069-43D3-A8F5B4C7E225}"/>
              </a:ext>
            </a:extLst>
          </p:cNvPr>
          <p:cNvSpPr txBox="1"/>
          <p:nvPr/>
        </p:nvSpPr>
        <p:spPr>
          <a:xfrm>
            <a:off x="7469609" y="4314305"/>
            <a:ext cx="289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4C244BB-70B1-8E97-87A5-301E237E75FD}"/>
              </a:ext>
            </a:extLst>
          </p:cNvPr>
          <p:cNvCxnSpPr>
            <a:cxnSpLocks/>
          </p:cNvCxnSpPr>
          <p:nvPr/>
        </p:nvCxnSpPr>
        <p:spPr>
          <a:xfrm>
            <a:off x="7636407" y="5029717"/>
            <a:ext cx="0" cy="238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4EAE5F8A-3A79-27CE-A457-F294A4D58AA3}"/>
              </a:ext>
            </a:extLst>
          </p:cNvPr>
          <p:cNvSpPr txBox="1"/>
          <p:nvPr/>
        </p:nvSpPr>
        <p:spPr>
          <a:xfrm>
            <a:off x="8597118" y="4916283"/>
            <a:ext cx="3397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Select only race-days and distances within 20% of official values to remove extra data.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AC0DE27-6CB2-4D55-A58F-2CF2620FD8FC}"/>
              </a:ext>
            </a:extLst>
          </p:cNvPr>
          <p:cNvSpPr txBox="1"/>
          <p:nvPr/>
        </p:nvSpPr>
        <p:spPr>
          <a:xfrm>
            <a:off x="8642954" y="4255465"/>
            <a:ext cx="1801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TDF &amp; Giro only so far</a:t>
            </a:r>
          </a:p>
        </p:txBody>
      </p:sp>
      <p:pic>
        <p:nvPicPr>
          <p:cNvPr id="1026" name="Picture 2" descr="Best budget cycling computers: Track your ride without the big price tag |  Cyclingnews">
            <a:extLst>
              <a:ext uri="{FF2B5EF4-FFF2-40B4-BE49-F238E27FC236}">
                <a16:creationId xmlns:a16="http://schemas.microsoft.com/office/drawing/2014/main" id="{1773B609-D9DD-667B-2384-FDEFD9FEC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74" y="5102397"/>
            <a:ext cx="2582857" cy="145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60039C05-6FB7-2DDB-7FB9-FC7108801E21}"/>
              </a:ext>
            </a:extLst>
          </p:cNvPr>
          <p:cNvSpPr txBox="1"/>
          <p:nvPr/>
        </p:nvSpPr>
        <p:spPr>
          <a:xfrm>
            <a:off x="5013032" y="2564724"/>
            <a:ext cx="19570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Using the </a:t>
            </a:r>
            <a:r>
              <a:rPr lang="en-US" sz="12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name</a:t>
            </a:r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of an athlete competing in the tours,  search those with Pro tag along with their unique Strava </a:t>
            </a:r>
            <a:r>
              <a:rPr lang="en-US" sz="12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athlete_id</a:t>
            </a:r>
            <a:endParaRPr lang="en-US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04770A-BB5E-1E7E-B6E4-898C15137D40}"/>
              </a:ext>
            </a:extLst>
          </p:cNvPr>
          <p:cNvSpPr txBox="1"/>
          <p:nvPr/>
        </p:nvSpPr>
        <p:spPr>
          <a:xfrm>
            <a:off x="4544699" y="4631318"/>
            <a:ext cx="865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582 riders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4FD1E-0991-28DA-1F9C-0F3D9EEAE160}"/>
              </a:ext>
            </a:extLst>
          </p:cNvPr>
          <p:cNvSpPr txBox="1"/>
          <p:nvPr/>
        </p:nvSpPr>
        <p:spPr>
          <a:xfrm>
            <a:off x="862954" y="4735463"/>
            <a:ext cx="2079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sports social media site/app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6AE5E-DDE2-5451-106C-33DE05A0BA61}"/>
              </a:ext>
            </a:extLst>
          </p:cNvPr>
          <p:cNvSpPr txBox="1"/>
          <p:nvPr/>
        </p:nvSpPr>
        <p:spPr>
          <a:xfrm>
            <a:off x="246639" y="2347142"/>
            <a:ext cx="2328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website that keeps cycling stats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D46D5-B6D4-AD7D-92D3-54F365933F4D}"/>
              </a:ext>
            </a:extLst>
          </p:cNvPr>
          <p:cNvSpPr txBox="1"/>
          <p:nvPr/>
        </p:nvSpPr>
        <p:spPr>
          <a:xfrm>
            <a:off x="2697984" y="3971764"/>
            <a:ext cx="139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Selenium + Beautiful soup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83E6FE-54DE-A787-760D-5B2CD49C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AFE90-0CD5-A440-9D8E-0E4C8D78CF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5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F2A46FC-A8BE-4771-BE51-D9123E918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61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BCD29FAF-6697-AED6-FFBC-FA8916428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"/>
          <a:stretch/>
        </p:blipFill>
        <p:spPr>
          <a:xfrm>
            <a:off x="614266" y="686768"/>
            <a:ext cx="10960420" cy="5792694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98137-4DE7-340E-2AC6-DD64F81F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8AFE90-0CD5-A440-9D8E-0E4C8D78CF2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C9EB1-8930-63D2-1ABA-1A7098FF9190}"/>
              </a:ext>
            </a:extLst>
          </p:cNvPr>
          <p:cNvSpPr txBox="1"/>
          <p:nvPr/>
        </p:nvSpPr>
        <p:spPr>
          <a:xfrm>
            <a:off x="2343807" y="113816"/>
            <a:ext cx="7501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Plot of segments column from </a:t>
            </a:r>
            <a:r>
              <a:rPr lang="en-US" sz="1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training.db</a:t>
            </a:r>
            <a:r>
              <a:rPr lang="en-US" sz="1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for a particular </a:t>
            </a:r>
            <a:r>
              <a:rPr lang="en-US" sz="1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athlete_id</a:t>
            </a:r>
            <a:endParaRPr lang="en-US"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55AD9-713D-65DF-A356-714FF3BB87F3}"/>
              </a:ext>
            </a:extLst>
          </p:cNvPr>
          <p:cNvSpPr txBox="1"/>
          <p:nvPr/>
        </p:nvSpPr>
        <p:spPr>
          <a:xfrm>
            <a:off x="445932" y="563658"/>
            <a:ext cx="2473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Example of someone who uploads a lot</a:t>
            </a:r>
          </a:p>
        </p:txBody>
      </p:sp>
    </p:spTree>
    <p:extLst>
      <p:ext uri="{BB962C8B-B14F-4D97-AF65-F5344CB8AC3E}">
        <p14:creationId xmlns:p14="http://schemas.microsoft.com/office/powerpoint/2010/main" val="246254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graphs with different colored dots&#10;&#10;AI-generated content may be incorrect.">
            <a:extLst>
              <a:ext uri="{FF2B5EF4-FFF2-40B4-BE49-F238E27FC236}">
                <a16:creationId xmlns:a16="http://schemas.microsoft.com/office/drawing/2014/main" id="{82462CB9-8B3B-C1AD-F1B5-DA20E203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77" y="643466"/>
            <a:ext cx="10511445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1FE05-43F2-0B1A-FE67-56F6A664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8AFE90-0CD5-A440-9D8E-0E4C8D78CF2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39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64F58-9BBB-74F1-DE74-2B705E6E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8AFE90-0CD5-A440-9D8E-0E4C8D78CF2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F503A-D096-2B40-05FE-807EA20E8EF7}"/>
              </a:ext>
            </a:extLst>
          </p:cNvPr>
          <p:cNvSpPr txBox="1"/>
          <p:nvPr/>
        </p:nvSpPr>
        <p:spPr>
          <a:xfrm>
            <a:off x="1591003" y="218809"/>
            <a:ext cx="9009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For a given </a:t>
            </a:r>
            <a:r>
              <a:rPr lang="en-US" sz="1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activity_id</a:t>
            </a:r>
            <a:r>
              <a:rPr lang="en-US" sz="1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we can download the </a:t>
            </a:r>
            <a:r>
              <a:rPr lang="en-US" sz="1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gpx</a:t>
            </a:r>
            <a:r>
              <a:rPr lang="en-US" sz="14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data and plot the track using </a:t>
            </a:r>
            <a:r>
              <a:rPr lang="en-US" sz="1400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geopandas</a:t>
            </a:r>
            <a:endParaRPr lang="en-US" sz="14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CC5F66-C799-776D-FF03-3637202B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98" y="940287"/>
            <a:ext cx="4265209" cy="57272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987BDD23-17A3-FCA4-4C87-A0EAF3BD6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462" y="940287"/>
            <a:ext cx="6950794" cy="55450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62220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6459</TotalTime>
  <Words>197</Words>
  <Application>Microsoft Macintosh PowerPoint</Application>
  <PresentationFormat>Widescreen</PresentationFormat>
  <Paragraphs>31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Getachew, Yonas</dc:creator>
  <cp:lastModifiedBy>Getachew, Yonas</cp:lastModifiedBy>
  <cp:revision>43</cp:revision>
  <dcterms:created xsi:type="dcterms:W3CDTF">2025-03-04T23:14:18Z</dcterms:created>
  <dcterms:modified xsi:type="dcterms:W3CDTF">2025-03-13T15:02:01Z</dcterms:modified>
</cp:coreProperties>
</file>